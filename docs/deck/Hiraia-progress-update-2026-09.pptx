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rag/bank/COVERAGE-ROUNDUP.md/.json (pool cards, bank facts, competencies with cards); packages/mobile/src/data/cards-questions.json (cards with an MCQ = 25,746); repository commit 58d358495 on branch question-cards; published APK: hiraia.org/models/hiraia.apk = v0.1.0 (June 2026, Sailor2-3B tier).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captured from the current UI build (card-ui branch, 26 Aug 2026) running on an Android 34 emulator at 720x1600. The deck is drawn from 36,487 illustrated cards; 25,746 of them have a verified multiple-choice question. Search is a local lexical/semantic match over the bundled card pool — a confident hit navigates to that card with the “ang tanong mo” banner shown here; when nothing matches, the on-device model answers from retrieved facts or says it does not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Per-run sources and hour/cost bases: docs/deck/data/evidence.json (runs, 49 entries; per-entry source = repo file:line or git commit). Grouping rule over the 49 raw entries in evidence.json→runs: 'full cpt run' without 'attempt' = row 1; 'probe cpt run 2/1' (not helper) = rows 2–3; 'attempt' = row 4; prune+heal = row 5; any 'GRPO' = row 6; SFT v1/v2 on the CPT/flagship base = row 7; 'helper pod' or 'pre-flight' = row 9; everything else (adapter LoRAs, QVAC CUDA attempts, DPO, bake-off) = row 8. (1) No RunPod billing export exists in the repo; Costs marked DOCUMENTED are the project's own contemporaneous figures ('~$972', '~$550', '~$285', '~$86', '≈$55', '~$24', '~$6'), not invoices. (2) Every June LoRA run except the 1B v3 ($0.38), Track-A ($0.60), v5 (~$2), GRPO pods ($10/$24/$5) and prune+heal ($86) has NO recorded duration or cost; those GPU-hours/costs are estimates from the recipe (~15-40 min train + setup) and the rates above. The kitten v3-v7 / cat v10 group (8 runs) is the least certain (±$10). (3) GPU-hours = pod wall-clock x GPU count. For probe run 2 and the run-2 pre-flight, wall-clock is unknown, so GPU-h was derived as cost ÷ $26.32/hr x 8 (167 and 16.7 GPU-h); run 2's ~$550 includes an unknown number of hours of runaway idle billing after the ~11 h of training. (4) The full-run GPU-hours use the VPS guard-log pod age (36.8 h); train_runtime alone was 35.66 h (fullrun-logging.jsonl). (5) The two probe helper pods (36h/48h TTL) have no recorded GPU type; costed at the $0.59/hr MIG rate the launcher tries first — if either was an H100 ($3.29/hr) add up to ~$75 each. 8womicsvtj3gt0/y8ys0evywikvcv/xb7pnw9ngyu8r4 MIG ≈$0.5; expansion-xfer pods MIG minutes) — together roughly $50-60 more. Also excluded: network-volume storage (5uwc7qp731 50GB US-KS-2 ~$5/mo; 1atl7503ky, 6er6skgoyb, ump7ia07oh, 0kt4j6h85v 300GB at ~$0.07/GB/mo), the hiraiabench Qwen3.5-27B pod build that failed (cost unrecorded, small), the Vultr VPS, Fireworks/Ox synth-ceb API spend, and Claude-subscription judging. (7) The June Cebuano corpus generation (8xA100, ~$42) is generation, not training, but is inside the documented $86 prune+heal figure and is reported there rather than split out. (8) The B200 smoke ($6.79/hr scaffold) never ran; the sm90 stack smoke on H100 is inferred from deploy_probe_cpt.sh comments and costed as an estimate. (9) The VPS mission-control run log/heartbeats only begin 2026-08-23T23:52Z (deployed after the run-2 loss), so earlier pod lifetimes come from docs/logs, not telemetry; the 9 run-2 heartbeats in heartbeats.jsonl were backfilled for the loss curve. (10) RunPod's quoted rate is not the billed rate (EUR-IS-3 quoted $21.52/hr, billed $26.32/hr — commit b58357e30); all 8xH100 figures use the billed $26.32. (11) SSH to the VPS (host alias 'kamai' → 45.76.180.229, ~/.ssh/config) worked read-only; notes.jsonl matches RUN-LOG.md plus 6 later entries (HOLD, GREENLIGHT, AUTOGRAB, synth-ceb closed, SFT v2 auto-eval).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are from the current UI build (card-ui branch, 26 Aug 2026, installed on an Android 34 emulator); the curriculum weighting charted here is implemented on the question-cards branch at commit 58d358495 and the two branches are not yet merged, so the screenshots show the interface, not the weighting. Weighting: rag/pipeline/FEED-WEIGHTING.md; simulation from packages/shared/src/curriculum/feedWeighting.ts on the bundled tags (docs/deck/data/draw-share-by-month.json; the chart attributes a multi-cell card to the Grade-5 cell that won, so its Aug figure (26.1%) is not the same statistic as feed-calibration.mts's 'draws carrying a G5-Q2 cell' (25.5%) — both come from the same module and pool). Quarter weighting applies to all 324 competencies (elementary and junior high). Coverage: rag/bank/COVERAGE-ROUNDUP.md (below floor now = 38, all junior high; laggards after module cards = 16). Quiz: packages/mobile/src/data/cards-questions.json (25,746 of 36,487).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finetuning/cpt/FULLRUN-RESULTS.md (perplexity, 400 docs × 1,024 tokens); finetuning/eval/capability/ (capability score, rubric); finetuning/eval/routing/routing-sft-v1.json (reply-language accuracy, hedge rate); finetuning/cpt/SFT-V1-RESULTS.md; finetuning/eval/capability/FINDINGS.md (2×2: blob fix +0.17 for the shipping model, rebalance +0.22 faithful vs +0.41 lexical; together 3.32 → 3.72)</a:t>
            </a:r>
          </a:p>
          <a:p>
            <a:r>
              <a:t>Held-out perplexity, Tagalog (400 docs x 1024 tok): 22.639 (Qwen3.5-2B-Base); probe base 21.299 (different carve-out) → 4.570 after full CPT (-79.8%); 7.835 at probe ckpt-125 / 525M tokens (-63.2%) — finetuning/cpt/FULLRUN-RESULTS.md:34 and finetuning/cpt/FULLRUN-EVAL-RESULT.json (base.tl.ppl=22.639, cpt.tl.ppl=4.57); probe: finetuning/cpt/PROBE-RUN-STATUS.md:101; caveat FULLRUN-RESULTS.md:64-67</a:t>
            </a:r>
          </a:p>
          <a:p>
            <a:r>
              <a:t>Held-out perplexity, Cebuano (400 docs x 1024 tok): 25.416 (base); probe base 25.020 → 4.448 after full CPT (-82.5%); 9.249 at ckpt-125 (-63.0%) — finetuning/cpt/FULLRUN-RESULTS.md:35; FULLRUN-EVAL-RESULT.json cpt.ceb.ppl=4.448; PROBE-RUN-STATUS.md:102; mix shares finetuning/cpt/FULL-MIX-README.md table</a:t>
            </a:r>
          </a:p>
          <a:p>
            <a:r>
              <a:t>Held-out perplexity, English (reserved FineWeb shard, never trained on): 15.568 (base); probe base 15.567 → 14.968 after full CPT (-3.9%, improved); 15.796 at ckpt-125 (+1.5%) — finetuning/cpt/FULLRUN-RESULTS.md:36,38; FULLRUN-EVAL-RESULT.json; PROBE-RUN-STATUS.md:103</a:t>
            </a:r>
          </a:p>
          <a:p>
            <a:r>
              <a:t>Greedy generation quality, base vs CPT (45 new tokens, same prompts): Base: 'Ang araw ay ... mga puno, mga puno, mga puno' (degenerate); photosynthesis -&gt; '___ at ___' filler; Cebuano 'Ang adlaw mao ang' answered in Tagalog and loops → CPT: 'Ang photosynthesis ay isang proseso na nangyayari sa mga halaman, algae, at ilang mga bakterya' (fluent, correct); 'Ang adlaw mao ang sentro sa atong solar nga sistema... usa ka bituon' (correct Cebuano, fixes ckpt-125's adlaw=day error) — finetuning/cpt/FULLRUN-EVAL-RESULT.json base.gen / cpt.gen; FULLRUN-RESULTS.md:42-49,53-56</a:t>
            </a:r>
          </a:p>
          <a:p>
            <a:r>
              <a:t>Template-routing language accuracy, SFT v1 (n=1,188, T=0.7, fastText lid.176, app-composed user-turn template): No prior instrument. Raw-prompt greedy test on the same model: 0/4 Cebuano-mode language-neutral prompts answered in Cebuano (doc says do not cite 4/8, 5/8 figures: SFT-V1-ROUTING-FINDING.md:185) → Tagalog 441/446 = 99%; Cebuano 427/446 = 96% raw, 99.3% after correcting 16 lid tl/ceb confusions; English 279/296 = 94%. Wrong-language EXPLANATIONS only 14/1,188 = 1.2% (27 of 41 misroutes are hedges) — finetuning/eval/routing/README.md:34-46; reproduced with `python3 finetuning/eval/routing/score_routing.py routing-sft-v1.json` (this session): 441/446, 427/446, 279/296; misrouted 41, hedges 27, explanations 14; low-confidence lid 37/1188</a:t>
            </a:r>
          </a:p>
          <a:p>
            <a:r>
              <a:t>SFT v1 hedge rate ('not sure' opener) by mode on grade-5 core terms: n/a (new finding on SFT v1; capability probes show the model explains these terms fluently) → Tagalog 284/446 = 64%; Cebuano 156/446 = 35%; English 64/296 = 22%; 179 of the 284 Tagalog hedges then explain anyway — finetuning/eval/routing/README.md:48-66; reproduced this session: 284/446 = 63.7% (regex HEDGE in score_routing.py); the '179 explain anyway' figure is README:58 only (not reproduced)</a:t>
            </a:r>
          </a:p>
          <a:p>
            <a:r>
              <a:t>hiraiabench Tagalog Fluency (naturalness on tl probes, n=46; no RAG, shared neutral prompt, blind judge): Sailor2-3B untrained base: 2.39 → Hiraia-v7 (Sailor2-3B + cat v7 LoRA): 3.91. References: Qwen3.5-9B 3.17, Qwen3.5-27B 4.5, Qwen3-1.7B 0.15, Claude Opus 4.8 5.0 — finetuning/eval/hiraiabench/bench-results.json (hiraia-v7.'Tagalog Fluency'=3.91, sailor2-3b=2.39, qwen3.5-9b=3.17, qwen3.5-27b=4.5); model = finetuning/adapters/distill-sailor-3b-v7/adapter-tagalog-v7-f16.gguf per run-all-local.sh; methodology packages/web/src/components/hiraiabench-data.ts:44-49; commit 9eb1d3510 2026-06-16</a:t>
            </a:r>
          </a:p>
          <a:p>
            <a:r>
              <a:t>hiraiabench English Fluency (n=7) / Bisaya (mean naturalness+accuracy, n=6): Sailor2-3B base: English 2.0, Bisaya 2.5 → Hiraia-v7: English 3.57, Bisaya 3.0 (Qwen3.5-9B: 5.0 / 1.75; 27B: 5.0 / 3.92) — finetuning/eval/hiraiabench/bench-results.json; footnote hiraiabench-data.ts:49</a:t>
            </a:r>
          </a:p>
          <a:p>
            <a:r>
              <a:t>Capability benchmark naturalness dimension (Claude-judged, device-faithful, Tagalog adapter, temp 0.7, worst-of-3): 4.51 (2026-06-09 shipping ttft adapter, lexical retrieval, 102 probes) → 4.61 (Track-A rebalanced adapter); 4.60 (rebal-v2 hybrid, 88 tl probes); tl-language mean naturalness 4.58 -&gt; 4.69 (candidate-hybrid) — finetuning/eval/capability/FINDINGS.md:24,153; recomputed this session from baselines/current-2026-06-09.json (4.51), baselines/candidate-rebal-2026-06-09.json (4.61), scores.v2-hybrid.tagalog.json (4.60), scores.candidate-hybrid.tagalog.json (4.69)</a:t>
            </a:r>
          </a:p>
          <a:p>
            <a:r>
              <a:t>English path A/B on the 18-probe english tier (Claude-judged): Sailor2-3B BASE, no LoRA (the original on-device English path): tier 1.78, naturalness 1.00, helpfulness-on-answerable 2.87 → Same base + Tagalog adapter: tier 3.75, accuracy 4.11, h0 refusals 0/15; shipping 2026-06-13 (v2a, English routed through Tagalog adapter): english tier 3.64, naturalness 4.11 — finetuning/rl/README.md:22 ('3.75 vs 1.78'); recomputed from finetuning/eval/capability/ab/capability-scores.english-tladapter.json (3.75, n=18) and baselines/capability-baseline.2026-06-11-shipping.json english tier (1.78); baselines/capability-baseline.2026-06-13-shipping-newbank.json english 3.64</a:t>
            </a:r>
          </a:p>
          <a:p>
            <a:r>
              <a:t>June adapter smoke: replies in target language (25 prompts, GGUF adapters on Sailor2-3B f16): tagalog-full-v2 (Qwen3-1.7B era): 24/25 lang_ok, 1 english_heavy, avg 187 words, ends_question 4/25 → sailor v5 GGUF: tagalog 25/25, cebuano 25/25, english_heavy 0, avg 111/89 words; image tags 9/25 (tl) 18/25 (ceb), malformed 0 — finetuning/eval/results-tagalog.json summary; finetuning/eval/eval-v5-gguf-tagalog.json summary; finetuning/eval/eval-v5-gguf-bisaya.json summary</a:t>
            </a:r>
          </a:p>
          <a:p>
            <a:r>
              <a:t>Prune+heal 2.4B per-language perplexity (Sailor2-3B pruned 9352-&gt;4608 FFN, healed on 800M tokens): Tagalog 10.26 pre-prune -&gt; 12.50 pruned; Cebuano 19.96 pruned; English 52.64 pruned → Healed: Tagalog 6.74, Cebuano 9.91, English 21.51 — finetuning/distill/ceb-heal/PRUNE-HEAL-RETROSPECTIVE.md:29-31</a:t>
            </a:r>
          </a:p>
          <a:p>
            <a:r>
              <a:t>SFT v1 (Qwen3.5-2B) deterministic reply-language by capability tier (no LLM judge; regex language heuristic): n/a (first eval of the CPT line) → v1: all Tagalog tiers 100% Tagalog (e.g. helpfulness-floor 24/24, reasoning 14/14), bisaya tier 13/14 Cebuano, english tier 13/18 English. v2: english 6/18 (all 12 failures switched to Tagalog), bisaya 13/14 — reproduced this session with `python3 finetuning/eval/pod-eval/score_answers.py finetuning/cpt/sft-v1-eval-answers.json finetuning/cpt/sft-v2-eval-answers.json`; finetuning/cpt/SFT-V1-ROUTING-FINDING.md:120-136</a:t>
            </a:r>
          </a:p>
          <a:p>
            <a:r>
              <a:t>Capability Score (tier-weighted 0-5, 143-probe instrument, Claude-judged, device-faithful, temp 0.7, worst-of-3), Sailor2-3B cat line: 3.32 (2026-06-09 shipping ttft adapter, lexical retrieval, 102 probes); 3.49 same adapter under true hybrid retrieval → 3.73 Track-A rebalanced adapter (+0.41 lexical / +0.22 under hybrid: 3.49-&gt;3.72); 3.95 rebal-v2 hybrid (88 tl probes, the pick); 3.81 v3 (regressed, not shipped) — finetuning/eval/capability/FINDINGS.md:17,83-90,145,68; recomputed this session with the run-capability.mts aggregation: baselines/current-2026-06-09.json 3.32, baselines/baseline-hybrid-2026-06-09.json 3.49, baselines/candidate-rebal-2026-06-09.json 3.73, baselines/candidate-hybrid-2026-06-09.json 3.72, scores.v2-hybrid.tagalog.json 3.95, scores.v3-hybrid.tagalog.json 3.81</a:t>
            </a:r>
          </a:p>
          <a:p>
            <a:r>
              <a:t>Helpfulness on answerable probes (the over-abstention metric) and outright refusals: 2.54; 19 of 91 answerable probes refused/deflected (helpfulness 0) → 3.19 after rebalance (13 of the 19 now answer, 6 remain - all retrieval-empty hard tail); 3.37 on rebal-v2 with 1/78 refusals — FINDINGS.md:17,32,145,155,161-163,69; recomputed: current-2026-06-09.json help-answerable 2.54 (h0=19/91), candidate-rebal 3.19 (h0=9... note FINDINGS says 6/19 of the ORIGINAL 19 still refuse), scores.v2-hybrid.tagalog.json 3.37 (h0=1/78)</a:t>
            </a:r>
          </a:p>
          <a:p>
            <a:r>
              <a:t>Abstain-correct tier (honesty on unknowables; guards against over-correcting into confabulation): 3.96 (2026-06-09 shipping) → 4.76 rebalanced (+0.80); 4.84 candidate-hybrid; 4.63-4.69 on the 2026-06-11/13 shipping snapshots — FINDINGS.md:151,99; recomputed from baselines files (4.76, 4.84, 4.63, 4.64)</a:t>
            </a:r>
          </a:p>
          <a:p>
            <a:r>
              <a:t>Safety-myth tier (debunk myths, safe answers): 2.31 (weakest tier, 2026-06-09) → 2.61 rebalanced; 3.07 rebal-v2; 2.66-2.77 on 2026-06-11/13 shipping snapshots (still the weakest scored tier) — FINDINGS.md:21,152,68-69,74; recomputed: v2 3.07, 0613 2.66, 0611 2.70</a:t>
            </a:r>
          </a:p>
          <a:p>
            <a:r>
              <a:t>Full-tier shipping snapshots incl. multi-turn + english (134/116 probes): 2026-06-11 'shipping' snapshot: 3.24 (help-answerable 2.77; tiers helpfulness-floor 3.79, multi-turn 2.74, english 1.78, bisaya 3.01, safety-myth 2.70, abstain-correct 4.63, pedagogy 2.93); same-judge overlay 3.30 → 2026-06-13 shipping-newbank (v2a intent adapter, tl+en only, 116 probes): 3.59 (help-answerable 3.14, h0 5/103; english 3.64, multi-turn 2.99, pedagogy 3.52, abstain-correct 4.64, safety-myth 2.66) — recomputed this session from finetuning/eval/capability/baselines/capability-baseline.2026-06-11-shipping.json (3.24, n=134), .samejudge.json (3.30), capability-baseline.2026-06-13-shipping-newbank.json (3.59, n=116); commit c4fbce1b2 2026-06-13; CPT-FLAGSHIP-PLAN.md:21,147,198</a:t>
            </a:r>
          </a:p>
          <a:p>
            <a:r>
              <a:t>Multi-turn tier (scripted 3-turn dialogues; repetition/re-asking hard caps): mt-baseline: Tagalog 2.77 (n=10), Bisaya 1.79 (n=4) → 2.74 (2026-06-11, n=14) -&gt; 2.99 (2026-06-13, n=10 tl) — finetuning/eval/capability/scores.mt-baseline.tagalog.json / .bisaya.json (recomputed 2.77 / 1.79); baselines 0611 (2.74) and 0613 (2.99) recomputed</a:t>
            </a:r>
          </a:p>
          <a:p>
            <a:r>
              <a:t>Pedagogy dimension (teaches vs dumps: analogy, check-for-understanding): 3.11 (2026-06-09 shipping) → 3.59 rebalanced (+0.48); 3.75 rebal-v2; 3.66 candidate-hybrid; hiraiabench Pedagogy (n=6, no RAG): Sailor2-3B 2.0 -&gt; Hiraia-v7 2.67 (Qwen3.5-9B 3.67, 27B 4.33) — FINDINGS.md:152; recomputed scores.v2-hybrid.tagalog.json pedagogy 3.75; finetuning/eval/hiraiabench/bench-results.json Pedagogy</a:t>
            </a:r>
          </a:p>
          <a:p>
            <a:r>
              <a:t>hiraiabench Science Accuracy (n=20) / Safety &amp; Honesty (n=12) / Code-switching (n=8), no RAG: Sailor2-3B base: 2.25 / 1.5 / 2.88 → Hiraia-v7: 3.05 / 3.13 / 3.25 (Qwen3.5-9B: 3.25 / 3.38 / 3.44; Qwen3.5-27B: 4.9 / 5.0 / 4.63; Qwen3-1.7B: 0 / 0.42 / 0.06) — finetuning/eval/hiraiabench/bench-results.json; category definitions finetuning/eval/hiraiabench/aggregate.mjs:12-18; 59 judged of 67 probes (8 AUP-dropped), bench-set.json meta</a:t>
            </a:r>
          </a:p>
          <a:p>
            <a:r>
              <a:t>Regression gate (finetuning/eval/harness/run-harness.sh), device-faithful hybrid, temp 0: Pre-hybrid gate broke on the +5040 fact expansion; re-calibrated 2026-06-09 → GREEN 39/39 with the v2 adapter (2026-06-09). cases.json today: 42 cases = 30 gated + 12 pending (known-unfixed, non-blocking); modes grounded 35 / chitchat 6 / abstain 1; langs tagalog 38 / cebuano 3 / english 1; grades 4-6 only. Also gates retrieval-stress + hybrid-stress 16/16. — FINDINGS.md:49 (39/39); commit 79712b2af 2026-06-09; counts computed this session from finetuning/eval/harness/cases.json (last commit 674fa6562 2026-06-19); PROBING-FINDINGS.md:172 (16/16); finetuning/eval/harness/.server.log (2026-08-27)</a:t>
            </a:r>
          </a:p>
          <a:p>
            <a:r>
              <a:t>Natural kid-phrasing probe (chat-tutor.mts, 3B + grounded LoRA, hybrid retrieval, temp 0.8, ~40 probes, 2026-06-07): 10 good / 7 minor / 15 major / 8 critical = ~57% major-or-critical (denied Earth is round, called math subjective, affirmed reading-in-dark myth, moon=planet) → After R1 (normalizeQuery + SEMANTIC_FLOOR 0.58-&gt;0.55) and R2 (buildContextualQuery follow-up folding): 5/5 previously-deflecting topics answer, '5 planets?' now corrects to 8, hybrid-stress gate 13/13 -&gt; 16/16; Tier-2 prompt hardening fixed reading-dark/10%-brain/math/moon (gated in cases.json). Residuals: flat-earth, smoking, scared-lindol remain retrieval-gated (pending cases) — finetuning/eval/harness/PROBING-FINDINGS.md:21,58,82-83,153-175,190-203</a:t>
            </a:r>
          </a:p>
          <a:p>
            <a:r>
              <a:t>Role-play edge QA (102 scripted 3-4 turn dialogues, 50 tl / 52 en, device temp 0.5, 2026-06-19): KITTEN 1B v7: fails turn 1 on TL safety/myth (affirms flat-earth/10%-brain/full-moon, says eclipse/raw chicken 'safe'), multi-turn collapse; temp-independent - greedy re-run went 8 -&gt; 11 criticals → CAT 3B v10: single-turn mostly solid (correct safety polarity, settled science), but caves on myths by turn 2+ (flat-earth 'totoo na patag ang Earth!'), 2 English safety failures (outlet, eclipse), EN-&gt;TL leak ~5/52 EN convos (~10%) — finetuning/eval/harness/ROLEPLAY-QA-FINDINGS.md:1-9,16-17,23-37,47-56</a:t>
            </a:r>
          </a:p>
          <a:p>
            <a:r>
              <a:t>Kitten 1B DPO safety/myth polarity (32 probes, 8 per bucket, temp 0.5; 'fail' = wrong polarity): v7 base: safety_hazardous 6/8 fail, safety_safe 6/8, myth_false 4/8, myth_true 5/8 → v8dpo2: safety_hazardous 0/8, safety_safe 1/8, myth_true 0/8 BUT myth_false 7/8 fail (affirms false myths); dpoB: 2/8, 1/8, 8/8, 1/8 — finetuning/eval/harness/dpo-eval-v7base.json .stats; dpo-eval-v8dpo2.json .stats; dpo-eval-dpoB.json .stats; semantics finetuning/eval/harness/dpo-eval.mts:1-3</a:t>
            </a:r>
          </a:p>
          <a:p>
            <a:r>
              <a:t>GRPO rounds on the 3B (programmatic rewards, June): Same-judge shipping baseline 3.30 (2026-06-11); newbank baseline 3.59 (2026-06-13) → GRPO r2: 2.98 (bisaya 2.05 vs 3.11, abstain-correct 3.24 vs 4.69; english 3.21 vs 1.85 = only win); GRPO r4: 3.41 vs 3.59. Variant sweep (Qwen3.5-9B screening judge): baseline 3.84, all four variants 3.30-3.37 — recomputed this session from baselines/capability-grpo-r2.2026-06-12.json, capability-grpo-r4.2026-06-13.json, capability-baseline.2026-06-11-shipping.samejudge.json; finetuning/eval/capability/baselines/capability-grpo-sweep.2026-06-13.txt</a:t>
            </a:r>
          </a:p>
          <a:p>
            <a:r>
              <a:t>Prune+heal 2.4B capability (Sailor2-3B -&gt; 2.414B, healed, re-SFT x3; 126 probes, Claude-judged): '1B baseline' 3.24 (abstain-correct ~4.6) → 2.06 / 5 (-1.18); help-answerable 1.99; abstain-correct 1.29, bisaya 1.17, english 0.41, helpfulness-floor 2.75, safety-myth 2.74; biggest movers all confabulation on unknowables (serious illness -4.71, election winner -4.57, tomorrow's weather -4.29) — finetuning/distill/ceb-heal/PRUNE-HEAL-RETROSPECTIVE.md:12,48-52,62-63; reproduced this session from the working-tree finetuning/eval/capability/capability-scores.{tagalog,english,bisaya}.json (combined 2.06, abstain-correct 1.29, help-answerable 1.99, h0 24/113) - these files were collected against finetuning/distill/ceb-heal/gguf/sailor2-2b4-healed.Q4_K_M.gguf per capability/.server.log:11</a:t>
            </a:r>
          </a:p>
          <a:p>
            <a:r>
              <a:t>SFT v1 (Qwen3.5-2B) deterministic behavioural gate + abstention (no LLM judge): n/a (first eval of the CPT line); v2 for comparison → v1: chitchat 5/6, abstain 1/1, grounded forbidden-term violations 0/34; abstain-correct tier refusal/deflect 8/10, safety-myth refusal 1/10, all other tiers 0 refusals; median answer ~470 chars. v2: abstain 0/1 (confabulated 'the largest star is the Supernova'), abstain-correct refusals 7/10, median +20% longer — reproduced this session: `python3 finetuning/eval/pod-eval/score_answers.py finetuning/cpt/sft-v1-eval-answers.json finetuning/cpt/sft-v2-eval-answers.json`; finetuning/cpt/SFT-V1-ROUTING-FINDING.md:118-129,141-144</a:t>
            </a:r>
          </a:p>
          <a:p>
            <a:r>
              <a:t>Miss-card direction generation, SFT v1 (216 probes = 72 terms x 3 modes, T=0.7; bar: &gt;=90% of cards with all 3 directions retrievable at cosine &gt;=0.63): Pre-registered bar &gt;=90% → v1 prose template 57/216 (26%); v2 'exactly three lines' 60/216 (28%); v3 JSON-schema constrained decoding 55/216 (25%). Mode-language compliance 211/216, 198/216, 180/216. Retrieval-only alternative: 7/27 true-miss triples sensible — finetuning/eval/misscard/README.md:25-29,51-63; finetuning/eval/retrieval/README.md:17-20</a:t>
            </a:r>
          </a:p>
          <a:p>
            <a:r>
              <a:t>Objective presentation metrics (finetuning/eval/presentation.mts: image-tag emission/well-formed/no-repeat, emoji present/spam &gt;4, bold, English persona-leak): 2026-06-11 english tier on the BASE model (no LoRA): emojiPresent 13/18, emojiSpam 6/18, bold 18/18, persona-leak 0/18; tagalog adapter answers: emoji 0/88, bold 0/88 → 2026-06-13 (v2a) tagalog: emojiPresent 14/88, spam 0, bold 0; bisaya bold 14/14; english persona-leak 0/18. 2.4B run (Jun 22, raw captured): image tags 4/93 all well-formed, 0 repeated images across 11 multi-turn dialogues, emoji spam 0 — computed via tsx script importing finetuning/eval/presentation.mts over baselines/answers-2026-06-11-shipping/*.json, HEAD:finetuning/eval/capability/capability-answers.*.json (commit c4fbce1b2), and working-tree capability-answers.*.json; raw-capture caveat in finetuning/eval/capability/run-capability.mts report() comment</a:t>
            </a:r>
          </a:p>
          <a:p>
            <a:r>
              <a:t>On-device speed, Redmi (SD685/Adreno 610, CPU-only, ARMv8.0, llama-bench 4 threads, Q4_K_M): Sailor2-1B: prefill 20.13 / decode 12.73 t/s (bench; earlier 19.3/11.8); in-app 1B TTFT ~24 s, 4.4 tok/s. Sailor2-3B: ~2.6 t/s decode (unusable on this device) → Qwen3.5-2B: prefill 10.94 / decode 5.93 t/s (1.8x / 2.1x slower than the 1B; in line with a same-size transformer; hybrid SSM kernels run correctly at armv8.0) — CPT-FLAGSHIP-PLAN.md:102-105; PRUNE-HEAL-RETROSPECTIVE.md:20 (1B 11.8, 3B 2.6 t/s)</a:t>
            </a:r>
          </a:p>
          <a:p>
            <a:r>
              <a:t>Device-equivalent latency, cat tier on M1 Pro Metal (llama-server, Sailor2-3B Q4_K_M + adapter-tagalog.gguf, temp 0.5): cold call TTFT 539 ms → warm calls ~163 ms TTFT (static system prompt KV cache reuse); avg decode 37.5 tok/s; model load 1,056 ms — AUDIT_LOG.md 'Run summary' + per-call table; generator finetuning/eval/audit/run-audit-demo.mjs</a:t>
            </a:r>
          </a:p>
          <a:p>
            <a:r>
              <a:t>GGUF ship path for the CPT'd Qwen3.5-2B (Gate 4): Untested; open upstream hybrid-arch conversion bug ggml-org#24737 → PASS: convert_hf_to_gguf.py --no-mtp on llama.cpp b10603, qwen35.block_count=24, Q4_K_M 1,560,460,800 B (1.45 GiB, +23% vs base 1.27 GB due to 248,320 vocab), generations match safetensors; x86 16-core CPU: prefill 97.1 / decode 44.5 tok/s — finetuning/cpt/GATE4-GGUF-BRIEF.md:92-104; finetuning/cpt/FULLRUN-RESULTS.md:70-101; RUN-LOG.md 2026-08-24 02:30 UTC entry</a:t>
            </a:r>
          </a:p>
          <a:p>
            <a:r>
              <a:t>Training run facts (for the cost/scale slide): June adapters: LoRA on Sailor2-3B, e.g. Track-A rebalance ~$0.60 on an A100 (FINDINGS.md:142-143); prune+heal total ~$86 (retrospective 'Costs') → Full CPT: 3,273 steps, ~13.7B tokens trained (mix 24.78B pool, 2.63 epochs of tl), loss 4.144 -&gt; 1.756, 8xH100 ~35.5h, ~$972 (budget $1,000). SFT v1: 6,687 rows, 3 ep, 1,254 steps, loss 1.651 -&gt; 0.996, 1xA100 ~47 min ~$1.40 (~$6 incl. 3 failed attempts). Probe run 2 lost 9/10 checkpoints to a cross-DC sync failure (~$278 run + drained account) — finetuning/cpt/FULLRUN-RESULTS.md:12-18; finetuning/cpt/SFT-V1-RESULTS.md:3-14; finetuning/cpt/PROBE-RUN-STATUS.md 'RUN 2 OUTCOME'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items trace to: rag/pipeline/FACT-SWARM-SPEC.md (Lane B, quiz lane, module cards), rag/pipeline/FEED-WEIGHTING.md (Miss-Card labels, edge-walk cost), finetuning/eval/routing/README.md (hedge-clause wording sweep), finetuning/cpt/*.md (SFT/KD on the CPT base), memory of on-device measurements on the Redmi SD685 (kitten tier ~4.4 tok/s, TTFT ~24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Website and APK verified live on 2026-08-28 (APK v0.1.0, 324.8 MB, published June 2026; Android 12+, 6 GB+ recommended). GitHub repo is public. Hugging Face: model repos under the project account are private pending a release checklist (weights + evaluation kit); DepEd-derived corpus text will not be redistributed.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hiraia.org" TargetMode="External"/><Relationship Id="rId4" Type="http://schemas.openxmlformats.org/officeDocument/2006/relationships/hyperlink" Target="https://hiraia.org/models/hiraia.apk" TargetMode="External"/><Relationship Id="rId5" Type="http://schemas.openxmlformats.org/officeDocument/2006/relationships/hyperlink" Target="https://github.com/helloluis/hiraia" TargetMode="Externa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0">
                <a:solidFill>
                  <a:srgbClr val="20342C"/>
                </a:solidFill>
                <a:latin typeface="Alfa Slab One"/>
              </a:rPr>
              <a:t>Hiraia —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A2E22"/>
                </a:solidFill>
                <a:latin typeface="Inter"/>
              </a:rPr>
              <a:t>Early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3B2E"/>
                </a:solidFill>
                <a:latin typeface="Inter"/>
              </a:rPr>
              <a:t>An offline, on-device science tutor for Filipino grade-school students (Grades 3–10), aligned to the DepEd MATATAG curriculum, in Tagalog, Cebuano and English. The published build (v0.1) targets Android 12+ phones with 6 GB+ memory; a 1B budget tier runs on a Redmi (Snapdragon 685) in unpublished builds.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65192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1C3B2E"/>
                </a:solidFill>
                <a:latin typeface="Alfa Slab One"/>
              </a:rPr>
              <a:t>36,487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3B2E"/>
                </a:solidFill>
                <a:latin typeface="Inter"/>
              </a:rPr>
              <a:t>illustrated fact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0944" y="489204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4965192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1C3B2E"/>
                </a:solidFill>
                <a:latin typeface="Alfa Slab One"/>
              </a:rPr>
              <a:t>50,279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553212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3B2E"/>
                </a:solidFill>
                <a:latin typeface="Inter"/>
              </a:rPr>
              <a:t>verified trilingual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489204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4965192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1C3B2E"/>
                </a:solidFill>
                <a:latin typeface="Alfa Slab One"/>
              </a:rPr>
              <a:t>324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553212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3B2E"/>
                </a:solidFill>
                <a:latin typeface="Inter"/>
              </a:rPr>
              <a:t>MATATAG competencies tracked (321 with cards)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489204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4965192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1C3B2E"/>
                </a:solidFill>
                <a:latin typeface="Alfa Slab One"/>
              </a:rPr>
              <a:t>25,746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553212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3B2E"/>
                </a:solidFill>
                <a:latin typeface="Inter"/>
              </a:rPr>
              <a:t>cards with a quiz question</a:t>
            </a:r>
          </a:p>
        </p:txBody>
      </p:sp>
      <p:pic>
        <p:nvPicPr>
          <p:cNvPr id="18" name="Picture 17" descr="01-engraving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960120"/>
            <a:ext cx="2344274" cy="5029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9719" y="6044183"/>
            <a:ext cx="2892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>current build (card-ui, 26 Aug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264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Evidence: repository at commit 58d358495 (branch question-cards) and its evaluation records; the published app is app v0.1 — the feed shown here ships in the next build. Sources are in the slide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The app teaches with a deck of flash cards drawn from the DepEd MATATAG curriculum: a child reads a card, is quizzed on what they just read, is told what they have covered, and can ask for a topic at any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2</a:t>
            </a:r>
          </a:p>
        </p:txBody>
      </p:sp>
      <p:pic>
        <p:nvPicPr>
          <p:cNvPr id="8" name="Picture 7" descr="02-feed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28800"/>
            <a:ext cx="1640992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5404103"/>
            <a:ext cx="21891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5532120"/>
            <a:ext cx="24871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C3B2E"/>
                </a:solidFill>
                <a:latin typeface="Inter"/>
              </a:rPr>
              <a:t>A card carries one fact, one illustration, and the topic that comes next.</a:t>
            </a:r>
          </a:p>
        </p:txBody>
      </p:sp>
      <p:pic>
        <p:nvPicPr>
          <p:cNvPr id="11" name="Picture 10" descr="04-quiz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828800"/>
            <a:ext cx="1640992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36976" y="5404103"/>
            <a:ext cx="21891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5532120"/>
            <a:ext cx="24871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C3B2E"/>
                </a:solidFill>
                <a:latin typeface="Inter"/>
              </a:rPr>
              <a:t>Every few cards a question interrupts the deck, on a fact just read.</a:t>
            </a:r>
          </a:p>
        </p:txBody>
      </p:sp>
      <p:pic>
        <p:nvPicPr>
          <p:cNvPr id="14" name="Picture 13" descr="05-reward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28800"/>
            <a:ext cx="1640992" cy="3520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5404103"/>
            <a:ext cx="21891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5532120"/>
            <a:ext cx="24871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C3B2E"/>
                </a:solidFill>
                <a:latin typeface="Inter"/>
              </a:rPr>
              <a:t>A periodic recap names the topics the child actually covered.</a:t>
            </a:r>
          </a:p>
        </p:txBody>
      </p:sp>
      <p:pic>
        <p:nvPicPr>
          <p:cNvPr id="17" name="Picture 16" descr="06-search-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1828800"/>
            <a:ext cx="1640992" cy="3520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3103" y="5404103"/>
            <a:ext cx="218916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532120"/>
            <a:ext cx="24871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C3B2E"/>
                </a:solidFill>
                <a:latin typeface="Inter"/>
              </a:rPr>
              <a:t>Typing a word moves the deck to a matching card — here, “bulkan”.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Training runs on RunPod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Most of the compute went into a continued-pretrained Filipino base model; the rest into tutoring fine-tunes, a pruning experiment, and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640080"/>
                <a:gridCol w="731520"/>
                <a:gridCol w="1463040"/>
                <a:gridCol w="3931920"/>
              </a:tblGrid>
              <a:tr h="2560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run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GPUs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GPU-h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cost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basis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3B2E"/>
                          </a:solidFill>
                          <a:latin typeface="Inter"/>
                        </a:rPr>
                        <a:t>outcome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Full continued pre-training — Qwen3.5-2B, ≈13.7B tokens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 × H100 80GB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294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$972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cost documented; hours from pod age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Held-out perplexity: Tagalog −80%, Cebuano −82%, English −4% (improved)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CPT probe run 2 (full-parameter, ZeRO-2)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 × H100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167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$550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documented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Only checkpoint-125 (525M tokens) survived a cross-DC sync failure — it validated the thesis: perplexity −63% tl / −63% ceb; GGUF export de-risked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CPT probe run 1 (≈5.1B tokens, trained as LoRA by mistake)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 × H100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$285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documented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No usable artefact; the pod/volume/heartbeat pipeline was proven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Full CPT attempt 1 (aborted)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 × H100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66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$216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estimate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Pre-processing collapse (worker count vs cgroup quota); run held and restarted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Prune + heal 2.4B experiment (Sailor2-3B)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8 × A100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56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$86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documented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Heal recovered fluency (ppl tl 6.7 / ceb 9.9); conservative re-SFT under-fit — not shipped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GRPO rounds 1–5 (1B/3B)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1–4 × H100 / RTX 6000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$74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mostly documented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Not shippable: capability 3.30 → 2.98; English +1.4 but abstention and Bisaya regressed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SFT v1 / v2 on the CPT base (Qwen3.5-2B)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1 × A100 80GB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documented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v1 is the ship candidate: reply-language accuracy tl 99% · ceb 99% · en 94%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Adapter iterations on Sailor2-3B / 1B and tooling (36 entries, May–June)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H100 / L40 / A100 / L4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60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$128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mostly estimated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Shipped adapters v3 → v11: grounding faithfulness, static-prompt TTFT, kitten/cat tiers; QVAC-native training path evaluated and dropped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Checkpoint-sync, eval and debug pods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various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68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$85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mixed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3B2E"/>
                          </a:solidFill>
                          <a:latin typeface="Inter"/>
                        </a:rPr>
                        <a:t>Evaluation on a device-equivalent GGUF; pre-flight debugging of run 2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42C"/>
                </a:solidFill>
                <a:latin typeface="Inter"/>
              </a:rPr>
              <a:t>≈853 GPU-hours and ≈$2,402 on RunPod since late May 2026 (rows sum to the totals); ≈$2,000 of that from figures recorded at the time, the rest estimated at list price — no billing export yet. About 80% of the compute went into continued pre-training of the Filipino base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A curriculum-aware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Cards are weighted by the student's grade and the curriculum quarter inferred from the device date; the boost moves through the school year by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4</a:t>
            </a:r>
          </a:p>
        </p:txBody>
      </p:sp>
      <p:pic>
        <p:nvPicPr>
          <p:cNvPr id="8" name="Picture 7" descr="draw-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6766560" cy="3566160"/>
          </a:xfrm>
          <a:prstGeom prst="rect">
            <a:avLst/>
          </a:prstGeom>
        </p:spPr>
      </p:pic>
      <p:pic>
        <p:nvPicPr>
          <p:cNvPr id="9" name="Picture 8" descr="02-feed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1385253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4764024"/>
            <a:ext cx="1933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>fact card</a:t>
            </a:r>
          </a:p>
        </p:txBody>
      </p:sp>
      <p:pic>
        <p:nvPicPr>
          <p:cNvPr id="11" name="Picture 10" descr="04-quiz-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737360"/>
            <a:ext cx="1385253" cy="2971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59" y="4764024"/>
            <a:ext cx="19334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B52"/>
                </a:solidFill>
                <a:latin typeface="Inter"/>
              </a:rPr>
              <a:t>interject quiz card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5166360"/>
          <a:ext cx="676656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463040"/>
                <a:gridCol w="1371600"/>
                <a:gridCol w="1280160"/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3B2E"/>
                          </a:solidFill>
                          <a:latin typeface="Inter"/>
                        </a:rPr>
                        <a:t>current quarter, same grade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3B2E"/>
                          </a:solidFill>
                          <a:latin typeface="Inter"/>
                        </a:rPr>
                        <a:t>adjacent quarter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3B2E"/>
                          </a:solidFill>
                          <a:latin typeface="Inter"/>
                        </a:rPr>
                        <a:t>other quarter, same grade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3B2E"/>
                          </a:solidFill>
                          <a:latin typeface="Inter"/>
                        </a:rPr>
                        <a:t>adjacent grade, current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3B2E"/>
                          </a:solidFill>
                          <a:latin typeface="Inter"/>
                        </a:rPr>
                        <a:t>off-curriculum</a:t>
                      </a:r>
                    </a:p>
                  </a:txBody>
                  <a:tcPr marL="54864" marR="54864" marT="18288" marB="18288">
                    <a:solidFill>
                      <a:srgbClr val="F4EAD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3B2E"/>
                          </a:solidFill>
                          <a:latin typeface="Inter"/>
                        </a:rPr>
                        <a:t>×6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3B2E"/>
                          </a:solidFill>
                          <a:latin typeface="Inter"/>
                        </a:rPr>
                        <a:t>×3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3B2E"/>
                          </a:solidFill>
                          <a:latin typeface="Inter"/>
                        </a:rPr>
                        <a:t>×1.5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3B2E"/>
                          </a:solidFill>
                          <a:latin typeface="Inter"/>
                        </a:rPr>
                        <a:t>×2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3B2E"/>
                          </a:solidFill>
                          <a:latin typeface="Inter"/>
                        </a:rPr>
                        <a:t>×0.4</a:t>
                      </a:r>
                    </a:p>
                  </a:txBody>
                  <a:tcPr marL="54864" marR="54864" marT="18288" marB="18288">
                    <a:solidFill>
                      <a:srgbClr val="FDFDF6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543800" y="49834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1C3B2E"/>
                </a:solidFill>
                <a:latin typeface="Inter"/>
              </a:rPr>
              <a:t>•  36,487 illustrated cards; 34,719 facts labelled to 324 competencies (LLM labels, 83% inter-model agreement; single-model cells down-weighted)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1C3B2E"/>
                </a:solidFill>
                <a:latin typeface="Inter"/>
              </a:rPr>
              <a:t>•  25,746 cards (70%) carry a verified quiz question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1C3B2E"/>
                </a:solidFill>
                <a:latin typeface="Inter"/>
              </a:rPr>
              <a:t>•  0 elementary competencies below floor; 38 junior-high competencies below floor in the card pool (16 once DepEd module cards are counted)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Model progress: fluency and pedagogy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From a fluent-but-cautious 3B adapter line to a continued-pretrained 2B base that reads and writes Tagalog and Cebuano: fluency is measured on held-out text, pedagogy on scripted tutoring probes.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5</a:t>
            </a:r>
          </a:p>
        </p:txBody>
      </p:sp>
      <p:pic>
        <p:nvPicPr>
          <p:cNvPr id="8" name="Picture 7" descr="p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4846320" cy="3028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920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B52"/>
                </a:solidFill>
                <a:latin typeface="Inter"/>
              </a:rPr>
              <a:t>Tiles: pedagogy figures are from the June 3B line; language accuracy and hedging from the August 2B (SFT v1). The 2B capability run is pending.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30368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26694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C3B2E"/>
                </a:solidFill>
                <a:latin typeface="Alfa Slab One"/>
              </a:rPr>
              <a:t>3.49 → 3.72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5650992"/>
            <a:ext cx="15361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C3B2E"/>
                </a:solidFill>
                <a:latin typeface="Inter"/>
              </a:rPr>
              <a:t>capability score (0–5), 102 probes — June 3B line, rebalance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5230368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526694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C3B2E"/>
                </a:solidFill>
                <a:latin typeface="Alfa Slab One"/>
              </a:rPr>
              <a:t>99 · 96 · 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650992"/>
            <a:ext cx="15361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C3B2E"/>
                </a:solidFill>
                <a:latin typeface="Inter"/>
              </a:rPr>
              <a:t>reply-language accuracy, SFT v1 2B (tl · ceb · en); Cebuano 99% corrected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5230368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F4EAD5"/>
          </a:solidFill>
          <a:ln w="12700">
            <a:solidFill>
              <a:srgbClr val="1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5266944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C3B2E"/>
                </a:solidFill>
                <a:latin typeface="Alfa Slab One"/>
              </a:rP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5650992"/>
            <a:ext cx="15361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1C3B2E"/>
                </a:solidFill>
                <a:latin typeface="Inter"/>
              </a:rPr>
              <a:t>of Tagalog replies open with a hedge; two-thirds still explain the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73736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342C"/>
                </a:solidFill>
                <a:latin typeface="Alfa Slab One"/>
              </a:rPr>
              <a:t>Pedagogy (measured on scripted probes)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03120"/>
            <a:ext cx="5852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C3B2E"/>
                </a:solidFill>
                <a:latin typeface="Inter"/>
              </a:rPr>
              <a:t>Scripted probes (102 in June, 143 now; 11 tiers, LLM-judged 0–5) showed the June model fluent but over-cautious: 19 of 91 answerable questions were refused. A retrieval fix plus a small data rebalance (+82 rows) lifted the score 3.32 → 3.72 (rebalance alone +0.22), and grounding faithfulness was fixed — the tutor defers to retrieved verified facts and abstains when none apply. The 2B line inherits the same harness; its capability run is the next measurement.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8862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342C"/>
                </a:solidFill>
                <a:latin typeface="Alfa Slab One"/>
              </a:rPr>
              <a:t>Known weaknesses (measured)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25196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C3B2E"/>
                </a:solidFill>
                <a:latin typeface="Inter"/>
              </a:rPr>
              <a:t>•  Hedging: the SFT v1 2B prefixes 64% of Tagalog replies with a 'not sure' clause on grade-5 terms; about two-thirds of those then explain the term — a template-wording effect, not a knowledge gap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3B2E"/>
                </a:solidFill>
                <a:latin typeface="Inter"/>
              </a:rPr>
              <a:t>•  English mode-lock is the 2B's fragile edge (94% vs 99% in Tagalog and Cebuano); misroutes fall to Tagalog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C3B2E"/>
                </a:solidFill>
                <a:latin typeface="Inter"/>
              </a:rPr>
              <a:t>•  The 1B budget tier cannot learn safety negation (DPO tested and rejected); junior-high content is thinner than elementary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Next 2–3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Consolidate the model, then prove it on the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More SFT and knowledge distillation on the CPT base (mode-locked buckets, teacher-generated tutoring turns)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Extensive synthetic testing on-device: scripted student sessions on the Redmi, TTFT and per-page latency budgets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Model-as-judge quality control on every generated fact, quiz and translation (decorrelated judge, AUP-safe routing)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APK-level optimisations: bundle size (engravings subset, indexed PNG), cold start, SQLite migrations, edge-walk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Native-speaker review of the Tagalog and Cebuano copy (onboarding, settings, hedging clause)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Junior-high gap fill: Lane B facts for the 16 remaining thin competencies; module-card supply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Finish the quiz lane (10.7k pool cards still without a question) and per-competency Miss-Card labels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Over-the-air fact-bank updates so content ships without an APK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Retrieval-QA cases per new competency before each gate run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C3B2E"/>
                </a:solidFill>
                <a:latin typeface="Inter"/>
              </a:rPr>
              <a:t>•  Draft a classroom-pilot protocol (consent, offline logging, pre/post measures) to propose to DepEd schools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342C"/>
                </a:solidFill>
                <a:latin typeface="Inter"/>
              </a:rPr>
              <a:t>To report next time: the 2B capability run on the same 143 probes; on-device TTFT and per-page latency on the Redmi; quiz coverage after the lane completes; bundle size after optimisation.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0342C"/>
                </a:solidFill>
                <a:latin typeface="Alfa Slab One"/>
              </a:rP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B2E"/>
                </a:solidFill>
                <a:latin typeface="Inter"/>
              </a:rPr>
              <a:t>Code, build and evaluation records are public; model weights follow once the release checklist is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4552" cy="18000"/>
          </a:xfrm>
          <a:prstGeom prst="rect">
            <a:avLst/>
          </a:prstGeom>
          <a:solidFill>
            <a:srgbClr val="D8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52"/>
                </a:solidFill>
                <a:latin typeface="Inter"/>
              </a:rPr>
              <a:t>Hiraia · progress update · early September 2026 · hiraia.org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52"/>
                </a:solidFill>
                <a:latin typeface="Inter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342C"/>
                </a:solidFill>
                <a:latin typeface="Alfa Slab One"/>
              </a:rPr>
              <a:t>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56231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B4C7E"/>
                </a:solidFill>
                <a:latin typeface="Inter"/>
                <a:hlinkClick r:id="rId3"/>
              </a:rPr>
              <a:t>https://hiraia.org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342C"/>
                </a:solidFill>
                <a:latin typeface="Alfa Slab One"/>
              </a:rPr>
              <a:t>APK (direct download)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907791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B4C7E"/>
                </a:solidFill>
                <a:latin typeface="Inter"/>
                <a:hlinkClick r:id="rId4"/>
              </a:rPr>
              <a:t>https://hiraia.org/models/hiraia.apk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300984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B52"/>
                </a:solidFill>
                <a:latin typeface="Inter"/>
              </a:rPr>
              <a:t>v0.1.0, 325 MB, sha256 708ea605…, Android 12+, 6 GB+ RAM; mirror: github.com/helloluis/hiraia/releases/tag/v0.1.0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342C"/>
                </a:solidFill>
                <a:latin typeface="Alfa Slab One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959352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B4C7E"/>
                </a:solidFill>
                <a:latin typeface="Inter"/>
                <a:hlinkClick r:id="rId5"/>
              </a:rPr>
              <a:t>https://github.com/helloluis/hiraia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352544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B52"/>
                </a:solidFill>
                <a:latin typeface="Inter"/>
              </a:rPr>
              <a:t>source, pipelines and evaluation harness (public)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79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0342C"/>
                </a:solidFill>
                <a:latin typeface="Alfa Slab One"/>
              </a:rPr>
              <a:t>Hugging 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010912"/>
            <a:ext cx="7406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5B6B52"/>
                </a:solidFill>
                <a:latin typeface="Inter"/>
              </a:rPr>
              <a:t>to be 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04104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B52"/>
                </a:solidFill>
                <a:latin typeface="Inter"/>
              </a:rPr>
              <a:t>model weights + evaluation kit: release pending; corpus provenance will be documented, DepEd-derived text is not redistributed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